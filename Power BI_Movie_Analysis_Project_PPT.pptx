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76" r:id="rId4"/>
    <p:sldId id="261" r:id="rId5"/>
    <p:sldId id="262" r:id="rId6"/>
    <p:sldId id="263" r:id="rId7"/>
    <p:sldId id="264" r:id="rId8"/>
    <p:sldId id="267" r:id="rId9"/>
    <p:sldId id="266" r:id="rId10"/>
    <p:sldId id="268" r:id="rId11"/>
    <p:sldId id="269" r:id="rId12"/>
    <p:sldId id="271" r:id="rId13"/>
    <p:sldId id="272" r:id="rId14"/>
    <p:sldId id="273" r:id="rId15"/>
    <p:sldId id="274" r:id="rId16"/>
    <p:sldId id="275" r:id="rId17"/>
    <p:sldId id="259" r:id="rId18"/>
  </p:sldIdLst>
  <p:sldSz cx="12192000" cy="6858000"/>
  <p:notesSz cx="6858000" cy="9144000"/>
  <p:embeddedFontLst>
    <p:embeddedFont>
      <p:font typeface="Bookman Old Style" panose="02050604050505020204" pitchFamily="18" charset="0"/>
      <p:regular r:id="rId20"/>
      <p:bold r:id="rId21"/>
      <p:italic r:id="rId22"/>
      <p:boldItalic r:id="rId23"/>
    </p:embeddedFont>
    <p:embeddedFont>
      <p:font typeface="Lato Black" panose="020F0502020204030203" pitchFamily="34" charset="0"/>
      <p:bold r:id="rId24"/>
      <p:boldItalic r:id="rId25"/>
    </p:embeddedFont>
    <p:embeddedFont>
      <p:font typeface="Libre Baskerville" panose="02000000000000000000" pitchFamily="2" charset="0"/>
      <p:regular r:id="rId26"/>
      <p:bold r:id="rId27"/>
      <p: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9966FF"/>
    <a:srgbClr val="9900FF"/>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5"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605326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84680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674219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4</a:t>
            </a:fld>
            <a:endParaRPr lang="en-IN"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76277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dirty="0"/>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5935014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github.com/soniayenpure34-lgtm/Sonia-Yenpure" TargetMode="External"/><Relationship Id="rId4" Type="http://schemas.openxmlformats.org/officeDocument/2006/relationships/hyperlink" Target="https://www.linkedin.com/in/sonia-yenpure-a98494396/"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4">
            <a:alphaModFix/>
          </a:blip>
          <a:srcRect/>
          <a:stretch/>
        </p:blipFill>
        <p:spPr>
          <a:xfrm>
            <a:off x="592" y="0"/>
            <a:ext cx="12191408" cy="6858000"/>
          </a:xfrm>
          <a:prstGeom prst="rect">
            <a:avLst/>
          </a:prstGeom>
          <a:blipFill dpi="0" rotWithShape="1">
            <a:blip r:embed="rId3"/>
            <a:srcRect/>
            <a:stretch>
              <a:fillRect l="29000"/>
            </a:stretch>
          </a:blipFill>
          <a:ln>
            <a:noFill/>
          </a:ln>
        </p:spPr>
      </p:pic>
      <p:sp>
        <p:nvSpPr>
          <p:cNvPr id="99" name="Google Shape;99;p1"/>
          <p:cNvSpPr txBox="1"/>
          <p:nvPr/>
        </p:nvSpPr>
        <p:spPr>
          <a:xfrm>
            <a:off x="2568735" y="3429000"/>
            <a:ext cx="7246189" cy="32623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lang="en-IN" sz="1800"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IN" sz="3600" b="1" dirty="0">
                <a:solidFill>
                  <a:schemeClr val="dk1"/>
                </a:solidFill>
                <a:latin typeface="Calibri"/>
                <a:ea typeface="Calibri"/>
                <a:cs typeface="Calibri"/>
                <a:sym typeface="Calibri"/>
              </a:rPr>
              <a:t>Movie Sales Analysis</a:t>
            </a:r>
          </a:p>
          <a:p>
            <a:pPr marL="0" marR="0" lvl="0" indent="0" algn="ctr" rtl="0">
              <a:lnSpc>
                <a:spcPct val="100000"/>
              </a:lnSpc>
              <a:spcBef>
                <a:spcPts val="0"/>
              </a:spcBef>
              <a:spcAft>
                <a:spcPts val="0"/>
              </a:spcAft>
              <a:buClr>
                <a:srgbClr val="000000"/>
              </a:buClr>
              <a:buSzPts val="1800"/>
              <a:buFont typeface="Arial"/>
              <a:buNone/>
            </a:pPr>
            <a:r>
              <a:rPr lang="en-US" sz="3200" b="1" dirty="0">
                <a:solidFill>
                  <a:schemeClr val="dk1"/>
                </a:solidFill>
                <a:latin typeface="Calibri"/>
                <a:ea typeface="Calibri"/>
                <a:cs typeface="Calibri"/>
                <a:sym typeface="Calibri"/>
              </a:rPr>
              <a:t>(2006 – 2016)</a:t>
            </a:r>
            <a:endParaRPr lang="en-IN" sz="3200" b="1"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endParaRPr lang="en-US" sz="3600" b="1" dirty="0">
              <a:solidFill>
                <a:schemeClr val="dk1"/>
              </a:solidFill>
              <a:latin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US" sz="2800" b="1" dirty="0">
                <a:solidFill>
                  <a:schemeClr val="dk1"/>
                </a:solidFill>
                <a:latin typeface="Calibri"/>
                <a:cs typeface="Calibri"/>
                <a:sym typeface="Calibri"/>
              </a:rPr>
              <a:t>Name</a:t>
            </a:r>
            <a:r>
              <a:rPr lang="en-US" sz="3600" b="1" dirty="0">
                <a:solidFill>
                  <a:schemeClr val="dk1"/>
                </a:solidFill>
                <a:latin typeface="Calibri"/>
                <a:cs typeface="Calibri"/>
                <a:sym typeface="Calibri"/>
              </a:rPr>
              <a:t>:- </a:t>
            </a:r>
            <a:r>
              <a:rPr lang="en-US" sz="2400" b="1" dirty="0">
                <a:solidFill>
                  <a:schemeClr val="dk1"/>
                </a:solidFill>
                <a:latin typeface="Calibri"/>
                <a:cs typeface="Calibri"/>
                <a:sym typeface="Calibri"/>
              </a:rPr>
              <a:t>Sonia Yenpure</a:t>
            </a:r>
          </a:p>
          <a:p>
            <a:pPr marL="0" marR="0" lvl="0" indent="0" algn="ctr" rtl="0">
              <a:lnSpc>
                <a:spcPct val="100000"/>
              </a:lnSpc>
              <a:spcBef>
                <a:spcPts val="0"/>
              </a:spcBef>
              <a:spcAft>
                <a:spcPts val="0"/>
              </a:spcAft>
              <a:buClr>
                <a:srgbClr val="000000"/>
              </a:buClr>
              <a:buSzPts val="1800"/>
              <a:buFont typeface="Arial"/>
              <a:buNone/>
            </a:pPr>
            <a:endParaRPr lang="en-US" sz="2400" b="1" i="0" u="none" strike="noStrike" cap="none" dirty="0">
              <a:solidFill>
                <a:schemeClr val="dk1"/>
              </a:solidFill>
              <a:latin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US" sz="2400" b="1" dirty="0">
                <a:solidFill>
                  <a:schemeClr val="dk1"/>
                </a:solidFill>
                <a:latin typeface="Calibri"/>
                <a:cs typeface="Calibri"/>
                <a:sym typeface="Calibri"/>
              </a:rPr>
              <a:t>Guided By : Prasad Charate</a:t>
            </a:r>
            <a:endParaRPr sz="2400" b="1" i="0" u="none" strike="noStrike" cap="none" dirty="0">
              <a:solidFill>
                <a:srgbClr val="000000"/>
              </a:solidFil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7000" r="-27000"/>
          </a:stretch>
        </a:blipFill>
        <a:effectLst/>
      </p:bgPr>
    </p:bg>
    <p:spTree>
      <p:nvGrpSpPr>
        <p:cNvPr id="1" name="Shape 103"/>
        <p:cNvGrpSpPr/>
        <p:nvPr/>
      </p:nvGrpSpPr>
      <p:grpSpPr>
        <a:xfrm>
          <a:off x="0" y="0"/>
          <a:ext cx="0" cy="0"/>
          <a:chOff x="0" y="0"/>
          <a:chExt cx="0" cy="0"/>
        </a:xfrm>
      </p:grpSpPr>
      <p:sp>
        <p:nvSpPr>
          <p:cNvPr id="104" name="Google Shape;104;p3"/>
          <p:cNvSpPr txBox="1"/>
          <p:nvPr/>
        </p:nvSpPr>
        <p:spPr>
          <a:xfrm>
            <a:off x="218364" y="598561"/>
            <a:ext cx="11818961" cy="4524275"/>
          </a:xfrm>
          <a:prstGeom prst="rect">
            <a:avLst/>
          </a:prstGeom>
          <a:noFill/>
          <a:ln>
            <a:noFill/>
          </a:ln>
        </p:spPr>
        <p:txBody>
          <a:bodyPr spcFirstLastPara="1" wrap="square" lIns="91425" tIns="45700" rIns="91425" bIns="45700" anchor="t" anchorCtr="0">
            <a:spAutoFit/>
          </a:bodyPr>
          <a:lstStyle/>
          <a:p>
            <a:pPr marL="304800" lvl="0" indent="-342900">
              <a:buClr>
                <a:schemeClr val="bg1"/>
              </a:buClr>
              <a:buSzPts val="2400"/>
              <a:buFont typeface="Wingdings" panose="05000000000000000000" pitchFamily="2" charset="2"/>
              <a:buChar char="q"/>
            </a:pPr>
            <a:r>
              <a:rPr lang="en-US" sz="2400" b="1" dirty="0">
                <a:solidFill>
                  <a:schemeClr val="tx2"/>
                </a:solidFill>
                <a:latin typeface="Calibri"/>
                <a:ea typeface="Calibri"/>
                <a:cs typeface="Calibri"/>
                <a:sym typeface="Calibri"/>
              </a:rPr>
              <a:t>Background : BSC(Computer Science) from Savitribai Phule Pune University, Pune</a:t>
            </a:r>
          </a:p>
          <a:p>
            <a:pPr marL="304800" lvl="0" indent="-342900">
              <a:buClr>
                <a:schemeClr val="bg1"/>
              </a:buClr>
              <a:buSzPts val="2400"/>
              <a:buFont typeface="Wingdings" panose="05000000000000000000" pitchFamily="2" charset="2"/>
              <a:buChar char="q"/>
            </a:pPr>
            <a:endParaRPr lang="en-US" sz="2400" b="1" dirty="0">
              <a:solidFill>
                <a:schemeClr val="tx2"/>
              </a:solidFill>
              <a:latin typeface="Calibri"/>
              <a:ea typeface="Calibri"/>
              <a:cs typeface="Calibri"/>
              <a:sym typeface="Calibri"/>
            </a:endParaRPr>
          </a:p>
          <a:p>
            <a:pPr marL="304800" lvl="0" indent="-342900">
              <a:buClr>
                <a:schemeClr val="bg1"/>
              </a:buClr>
              <a:buSzPts val="2400"/>
              <a:buFont typeface="Wingdings" panose="05000000000000000000" pitchFamily="2" charset="2"/>
              <a:buChar char="q"/>
            </a:pPr>
            <a:r>
              <a:rPr lang="en-US" sz="2400" b="1" dirty="0">
                <a:solidFill>
                  <a:schemeClr val="tx2"/>
                </a:solidFill>
                <a:latin typeface="Calibri"/>
                <a:ea typeface="Calibri"/>
                <a:cs typeface="Calibri"/>
                <a:sym typeface="Calibri"/>
              </a:rPr>
              <a:t>Why you want to learn Data Science : Data Science offers continuous learning and growth. As new technologies and methods evolve, it encourages me to stay curious, adaptable, innovative and qualities that are essential for a successful career in today’s technology landscape.</a:t>
            </a:r>
          </a:p>
          <a:p>
            <a:pPr marL="304800" lvl="0" indent="-342900">
              <a:buClr>
                <a:schemeClr val="bg1"/>
              </a:buClr>
              <a:buSzPts val="2400"/>
              <a:buFont typeface="Wingdings" panose="05000000000000000000" pitchFamily="2" charset="2"/>
              <a:buChar char="q"/>
            </a:pPr>
            <a:endParaRPr lang="en-US" sz="2400" b="1" dirty="0">
              <a:solidFill>
                <a:schemeClr val="tx2"/>
              </a:solidFill>
              <a:latin typeface="Calibri"/>
              <a:ea typeface="Calibri"/>
              <a:cs typeface="Calibri"/>
              <a:sym typeface="Calibri"/>
            </a:endParaRPr>
          </a:p>
          <a:p>
            <a:pPr marL="304800" lvl="0" indent="-342900">
              <a:buClr>
                <a:schemeClr val="bg1"/>
              </a:buClr>
              <a:buSzPts val="2400"/>
              <a:buFont typeface="Wingdings" panose="05000000000000000000" pitchFamily="2" charset="2"/>
              <a:buChar char="q"/>
            </a:pPr>
            <a:r>
              <a:rPr lang="en-US" sz="2400" b="1" dirty="0">
                <a:solidFill>
                  <a:schemeClr val="tx2"/>
                </a:solidFill>
                <a:latin typeface="Calibri"/>
                <a:ea typeface="Calibri"/>
                <a:cs typeface="Calibri"/>
                <a:sym typeface="Calibri"/>
              </a:rPr>
              <a:t>Any work experience : Freshers</a:t>
            </a:r>
          </a:p>
          <a:p>
            <a:pPr marL="304800" lvl="0" indent="-342900">
              <a:buClr>
                <a:schemeClr val="bg1"/>
              </a:buClr>
              <a:buSzPts val="2400"/>
              <a:buFont typeface="Wingdings" panose="05000000000000000000" pitchFamily="2" charset="2"/>
              <a:buChar char="q"/>
            </a:pPr>
            <a:endParaRPr lang="en-US" sz="2400" b="1" dirty="0">
              <a:solidFill>
                <a:schemeClr val="tx2"/>
              </a:solidFill>
              <a:latin typeface="Calibri"/>
              <a:ea typeface="Calibri"/>
              <a:cs typeface="Calibri"/>
              <a:sym typeface="Calibri"/>
            </a:endParaRPr>
          </a:p>
          <a:p>
            <a:pPr marL="304800" lvl="0" indent="-342900">
              <a:buClr>
                <a:schemeClr val="bg1"/>
              </a:buClr>
              <a:buSzPts val="2400"/>
              <a:buFont typeface="Wingdings" panose="05000000000000000000" pitchFamily="2" charset="2"/>
              <a:buChar char="q"/>
            </a:pPr>
            <a:r>
              <a:rPr lang="en-US" sz="2400" b="1" dirty="0">
                <a:solidFill>
                  <a:schemeClr val="tx2"/>
                </a:solidFill>
                <a:latin typeface="Calibri"/>
                <a:ea typeface="Calibri"/>
                <a:cs typeface="Calibri"/>
                <a:sym typeface="Calibri"/>
              </a:rPr>
              <a:t>LinkedIn and GitHub profile URLs :</a:t>
            </a:r>
            <a:endParaRPr lang="en-US" sz="2400" b="1" i="0" u="none" strike="noStrike" cap="none" dirty="0">
              <a:solidFill>
                <a:schemeClr val="tx2"/>
              </a:solidFill>
              <a:latin typeface="Calibri"/>
              <a:ea typeface="Calibri"/>
              <a:cs typeface="Calibri"/>
              <a:sym typeface="Calibri"/>
            </a:endParaRPr>
          </a:p>
          <a:p>
            <a:pPr marL="304800" lvl="0" indent="-342900">
              <a:buClr>
                <a:schemeClr val="bg1"/>
              </a:buClr>
              <a:buSzPts val="2400"/>
              <a:buFont typeface="Wingdings" panose="05000000000000000000" pitchFamily="2" charset="2"/>
              <a:buChar char="§"/>
            </a:pPr>
            <a:r>
              <a:rPr lang="en-US" sz="2400" b="1" dirty="0">
                <a:solidFill>
                  <a:schemeClr val="tx2"/>
                </a:solidFill>
                <a:latin typeface="Calibri"/>
                <a:ea typeface="Calibri"/>
                <a:cs typeface="Calibri"/>
                <a:sym typeface="Calibri"/>
              </a:rPr>
              <a:t>LinkedIn : </a:t>
            </a:r>
            <a:r>
              <a:rPr lang="en-US" sz="2400" b="1" dirty="0">
                <a:solidFill>
                  <a:schemeClr val="tx2"/>
                </a:solidFill>
                <a:latin typeface="Calibri"/>
                <a:ea typeface="Calibri"/>
                <a:cs typeface="Calibri"/>
                <a:sym typeface="Calibri"/>
                <a:hlinkClick r:id="rId4"/>
              </a:rPr>
              <a:t>https://www.linkedin.com/in/sonia-yenpure-a98494396/</a:t>
            </a:r>
            <a:endParaRPr lang="en-US" sz="2400" b="1" dirty="0">
              <a:solidFill>
                <a:schemeClr val="tx2"/>
              </a:solidFill>
              <a:latin typeface="Calibri"/>
              <a:ea typeface="Calibri"/>
              <a:cs typeface="Calibri"/>
              <a:sym typeface="Calibri"/>
            </a:endParaRPr>
          </a:p>
          <a:p>
            <a:pPr marL="304800" lvl="0" indent="-342900">
              <a:buClr>
                <a:schemeClr val="bg1"/>
              </a:buClr>
              <a:buSzPts val="2400"/>
              <a:buFont typeface="Wingdings" panose="05000000000000000000" pitchFamily="2" charset="2"/>
              <a:buChar char="§"/>
            </a:pPr>
            <a:r>
              <a:rPr lang="en-US" sz="2400" b="1" dirty="0">
                <a:solidFill>
                  <a:schemeClr val="tx2"/>
                </a:solidFill>
                <a:latin typeface="Calibri"/>
                <a:ea typeface="Calibri"/>
                <a:cs typeface="Calibri"/>
                <a:sym typeface="Calibri"/>
              </a:rPr>
              <a:t>GitHub : </a:t>
            </a:r>
            <a:r>
              <a:rPr lang="en-US" sz="2400" b="1" dirty="0">
                <a:solidFill>
                  <a:schemeClr val="tx2"/>
                </a:solidFill>
                <a:latin typeface="Calibri"/>
                <a:ea typeface="Calibri"/>
                <a:cs typeface="Calibri"/>
                <a:sym typeface="Calibri"/>
                <a:hlinkClick r:id="rId5"/>
              </a:rPr>
              <a:t>https://github.com/soniayenpure34-lgtm/Sonia-Yenpure</a:t>
            </a:r>
            <a:endParaRPr lang="en-US" sz="2400" b="1" dirty="0">
              <a:solidFill>
                <a:schemeClr val="tx2"/>
              </a:solidFill>
              <a:latin typeface="Calibri"/>
              <a:ea typeface="Calibri"/>
              <a:cs typeface="Calibri"/>
              <a:sym typeface="Calibri"/>
            </a:endParaRPr>
          </a:p>
        </p:txBody>
      </p:sp>
      <p:sp>
        <p:nvSpPr>
          <p:cNvPr id="105" name="Google Shape;105;p3"/>
          <p:cNvSpPr txBox="1"/>
          <p:nvPr/>
        </p:nvSpPr>
        <p:spPr>
          <a:xfrm>
            <a:off x="100110" y="102656"/>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a:t>
            </a:r>
            <a:r>
              <a:rPr lang="en-IN" sz="3200" dirty="0">
                <a:solidFill>
                  <a:srgbClr val="FF0000"/>
                </a:solidFill>
                <a:latin typeface="Lato Black"/>
                <a:ea typeface="Lato Black"/>
                <a:cs typeface="Lato Black"/>
                <a:sym typeface="Lato Black"/>
              </a:rPr>
              <a:t>Us</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5938" y="0"/>
            <a:ext cx="10515600" cy="1325563"/>
          </a:xfrm>
        </p:spPr>
        <p:txBody>
          <a:bodyPr/>
          <a:lstStyle/>
          <a:p>
            <a:pPr>
              <a:buClr>
                <a:schemeClr val="bg1"/>
              </a:buClr>
            </a:pPr>
            <a:r>
              <a:rPr lang="en-IN" b="1" dirty="0">
                <a:solidFill>
                  <a:srgbClr val="FF0000"/>
                </a:solidFill>
              </a:rPr>
              <a:t>Agenda</a:t>
            </a:r>
            <a:endParaRPr lang="en-IN" dirty="0"/>
          </a:p>
        </p:txBody>
      </p:sp>
      <p:sp>
        <p:nvSpPr>
          <p:cNvPr id="3" name="Text Placeholder 2"/>
          <p:cNvSpPr>
            <a:spLocks noGrp="1"/>
          </p:cNvSpPr>
          <p:nvPr>
            <p:ph type="body" idx="1"/>
          </p:nvPr>
        </p:nvSpPr>
        <p:spPr>
          <a:xfrm>
            <a:off x="469710" y="1325563"/>
            <a:ext cx="10515600" cy="4351338"/>
          </a:xfrm>
        </p:spPr>
        <p:txBody>
          <a:bodyPr>
            <a:normAutofit lnSpcReduction="10000"/>
          </a:bodyPr>
          <a:lstStyle/>
          <a:p>
            <a:pPr lvl="0" indent="-431800">
              <a:buClr>
                <a:schemeClr val="bg1"/>
              </a:buClr>
              <a:buSzPts val="2400"/>
              <a:buFont typeface="Wingdings" panose="05000000000000000000" pitchFamily="2" charset="2"/>
              <a:buChar char="q"/>
            </a:pPr>
            <a:r>
              <a:rPr lang="en-US" b="1" dirty="0">
                <a:solidFill>
                  <a:schemeClr val="tx2"/>
                </a:solidFill>
              </a:rPr>
              <a:t>Project Overview :</a:t>
            </a:r>
          </a:p>
          <a:p>
            <a:pPr marL="1225550" lvl="2" indent="-285750">
              <a:buClr>
                <a:schemeClr val="bg1"/>
              </a:buClr>
              <a:buSzPts val="2400"/>
              <a:buFont typeface="Wingdings" panose="05000000000000000000" pitchFamily="2" charset="2"/>
              <a:buChar char="§"/>
            </a:pPr>
            <a:r>
              <a:rPr lang="en-US" sz="2800" b="1" dirty="0">
                <a:solidFill>
                  <a:schemeClr val="tx2"/>
                </a:solidFill>
              </a:rPr>
              <a:t>Data Overview</a:t>
            </a:r>
          </a:p>
          <a:p>
            <a:pPr marL="1225550" lvl="2" indent="-285750">
              <a:spcBef>
                <a:spcPts val="1000"/>
              </a:spcBef>
              <a:buClr>
                <a:schemeClr val="bg1"/>
              </a:buClr>
              <a:buSzPts val="2400"/>
              <a:buFont typeface="Wingdings" panose="05000000000000000000" pitchFamily="2" charset="2"/>
              <a:buChar char="§"/>
            </a:pPr>
            <a:r>
              <a:rPr lang="en-US" sz="2800" b="1" dirty="0">
                <a:solidFill>
                  <a:schemeClr val="tx2"/>
                </a:solidFill>
              </a:rPr>
              <a:t>Dataset Purpose</a:t>
            </a:r>
          </a:p>
          <a:p>
            <a:pPr marL="482600" lvl="0" indent="-457200">
              <a:buClr>
                <a:schemeClr val="bg1"/>
              </a:buClr>
              <a:buSzPts val="2400"/>
              <a:buFont typeface="Wingdings" panose="05000000000000000000" pitchFamily="2" charset="2"/>
              <a:buChar char="q"/>
            </a:pPr>
            <a:r>
              <a:rPr lang="en-US" b="1" dirty="0">
                <a:solidFill>
                  <a:schemeClr val="tx2"/>
                </a:solidFill>
              </a:rPr>
              <a:t>Data Preparation</a:t>
            </a:r>
          </a:p>
          <a:p>
            <a:pPr lvl="0" indent="-431800">
              <a:buClr>
                <a:schemeClr val="bg1"/>
              </a:buClr>
              <a:buSzPts val="2400"/>
              <a:buFont typeface="Wingdings" panose="05000000000000000000" pitchFamily="2" charset="2"/>
              <a:buChar char="q"/>
            </a:pPr>
            <a:r>
              <a:rPr lang="en-US" b="1" dirty="0">
                <a:solidFill>
                  <a:schemeClr val="tx2"/>
                </a:solidFill>
              </a:rPr>
              <a:t>Data Model &amp; Relationship View</a:t>
            </a:r>
          </a:p>
          <a:p>
            <a:pPr marL="482600" indent="-457200">
              <a:buClr>
                <a:schemeClr val="bg1"/>
              </a:buClr>
              <a:buSzPts val="2400"/>
              <a:buFont typeface="Wingdings" panose="05000000000000000000" pitchFamily="2" charset="2"/>
              <a:buChar char="q"/>
            </a:pPr>
            <a:r>
              <a:rPr lang="en-US" b="1" dirty="0">
                <a:solidFill>
                  <a:schemeClr val="tx2"/>
                </a:solidFill>
              </a:rPr>
              <a:t>Key Visuals &amp; Insights</a:t>
            </a:r>
          </a:p>
          <a:p>
            <a:pPr lvl="0" indent="-431800">
              <a:buClr>
                <a:schemeClr val="bg1"/>
              </a:buClr>
              <a:buSzPts val="2400"/>
              <a:buFont typeface="Wingdings" panose="05000000000000000000" pitchFamily="2" charset="2"/>
              <a:buChar char="q"/>
            </a:pPr>
            <a:r>
              <a:rPr lang="en-US" b="1" dirty="0">
                <a:solidFill>
                  <a:schemeClr val="tx2"/>
                </a:solidFill>
              </a:rPr>
              <a:t>Final Dashboard</a:t>
            </a:r>
          </a:p>
          <a:p>
            <a:pPr lvl="0" indent="-431800">
              <a:buClr>
                <a:schemeClr val="bg1"/>
              </a:buClr>
              <a:buSzPts val="2400"/>
              <a:buFont typeface="Wingdings" panose="05000000000000000000" pitchFamily="2" charset="2"/>
              <a:buChar char="q"/>
            </a:pPr>
            <a:r>
              <a:rPr lang="en-US" b="1" dirty="0">
                <a:solidFill>
                  <a:schemeClr val="tx2"/>
                </a:solidFill>
              </a:rPr>
              <a:t>Business Insights</a:t>
            </a:r>
          </a:p>
          <a:p>
            <a:pPr lvl="0" indent="-431800">
              <a:buClr>
                <a:schemeClr val="bg1"/>
              </a:buClr>
              <a:buSzPts val="2400"/>
              <a:buFont typeface="Wingdings" panose="05000000000000000000" pitchFamily="2" charset="2"/>
              <a:buChar char="q"/>
            </a:pPr>
            <a:r>
              <a:rPr lang="en-US" b="1" dirty="0">
                <a:solidFill>
                  <a:schemeClr val="tx2"/>
                </a:solidFill>
              </a:rPr>
              <a:t>Conclusion</a:t>
            </a:r>
            <a:endParaRPr lang="en-US" dirty="0">
              <a:solidFill>
                <a:schemeClr val="tx2"/>
              </a:solidFill>
            </a:endParaRPr>
          </a:p>
        </p:txBody>
      </p:sp>
    </p:spTree>
    <p:extLst>
      <p:ext uri="{BB962C8B-B14F-4D97-AF65-F5344CB8AC3E}">
        <p14:creationId xmlns:p14="http://schemas.microsoft.com/office/powerpoint/2010/main" val="1077863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13646"/>
            <a:ext cx="10515600" cy="791570"/>
          </a:xfrm>
        </p:spPr>
        <p:txBody>
          <a:bodyPr>
            <a:normAutofit/>
          </a:bodyPr>
          <a:lstStyle/>
          <a:p>
            <a:r>
              <a:rPr lang="en-US" sz="3600" b="1" dirty="0">
                <a:solidFill>
                  <a:srgbClr val="FF0000"/>
                </a:solidFill>
              </a:rPr>
              <a:t>Project Overview</a:t>
            </a:r>
            <a:endParaRPr lang="en-IN" sz="3600" dirty="0"/>
          </a:p>
        </p:txBody>
      </p:sp>
      <p:sp>
        <p:nvSpPr>
          <p:cNvPr id="3" name="Rectangle 2"/>
          <p:cNvSpPr/>
          <p:nvPr/>
        </p:nvSpPr>
        <p:spPr>
          <a:xfrm>
            <a:off x="0" y="996288"/>
            <a:ext cx="11764370" cy="3877985"/>
          </a:xfrm>
          <a:prstGeom prst="rect">
            <a:avLst/>
          </a:prstGeom>
        </p:spPr>
        <p:txBody>
          <a:bodyPr wrap="square">
            <a:spAutoFit/>
          </a:bodyPr>
          <a:lstStyle/>
          <a:p>
            <a:pPr marL="457200" indent="-457200">
              <a:buClr>
                <a:schemeClr val="bg1"/>
              </a:buClr>
              <a:buFont typeface="Wingdings" panose="05000000000000000000" pitchFamily="2" charset="2"/>
              <a:buChar char="q"/>
            </a:pPr>
            <a:r>
              <a:rPr lang="en-US" sz="2800" b="1" dirty="0">
                <a:solidFill>
                  <a:schemeClr val="tx2"/>
                </a:solidFill>
                <a:latin typeface="Calibri" panose="020F0502020204030204" pitchFamily="34" charset="0"/>
                <a:cs typeface="Calibri" panose="020F0502020204030204" pitchFamily="34" charset="0"/>
              </a:rPr>
              <a:t>Data Overview/Brief :</a:t>
            </a:r>
          </a:p>
          <a:p>
            <a:pPr algn="just"/>
            <a:endParaRPr lang="en-US" sz="2800" b="1" dirty="0">
              <a:solidFill>
                <a:schemeClr val="tx2"/>
              </a:solidFill>
            </a:endParaRPr>
          </a:p>
          <a:p>
            <a:pPr marL="342900" indent="-342900" algn="just">
              <a:buClr>
                <a:schemeClr val="bg1"/>
              </a:buClr>
              <a:buFont typeface="Wingdings" panose="05000000000000000000" pitchFamily="2" charset="2"/>
              <a:buChar char="§"/>
            </a:pPr>
            <a:r>
              <a:rPr lang="en-US" sz="2400" dirty="0">
                <a:solidFill>
                  <a:schemeClr val="tx2"/>
                </a:solidFill>
                <a:latin typeface="Calibri" panose="020F0502020204030204" pitchFamily="34" charset="0"/>
                <a:cs typeface="Calibri" panose="020F0502020204030204" pitchFamily="34" charset="0"/>
              </a:rPr>
              <a:t>The dataset is sourced from IMDB movie records and contains detailed information about movies released over multiple years. Each record includes attributes such as movie title, release year, genre, runtime, rating, revenue, votes, directors, and actors. Since some columns contained multiple values (such as genres and actors), the dataset was normalized into multiple related tables to ensure accurate analysis.</a:t>
            </a:r>
          </a:p>
          <a:p>
            <a:pPr algn="just"/>
            <a:endParaRPr lang="en-US" dirty="0">
              <a:solidFill>
                <a:schemeClr val="tx2"/>
              </a:solidFill>
            </a:endParaRPr>
          </a:p>
          <a:p>
            <a:pPr marL="457200" indent="-457200" algn="just">
              <a:buClr>
                <a:schemeClr val="bg1"/>
              </a:buClr>
              <a:buFont typeface="Wingdings" panose="05000000000000000000" pitchFamily="2" charset="2"/>
              <a:buChar char="q"/>
            </a:pPr>
            <a:r>
              <a:rPr lang="en-US" sz="2800" b="1" dirty="0">
                <a:solidFill>
                  <a:schemeClr val="tx2"/>
                </a:solidFill>
                <a:latin typeface="Calibri" panose="020F0502020204030204" pitchFamily="34" charset="0"/>
                <a:cs typeface="Calibri" panose="020F0502020204030204" pitchFamily="34" charset="0"/>
              </a:rPr>
              <a:t>Dataset Purpose :</a:t>
            </a:r>
          </a:p>
          <a:p>
            <a:pPr algn="just"/>
            <a:endParaRPr lang="en-US" b="1" dirty="0"/>
          </a:p>
          <a:p>
            <a:pPr algn="just"/>
            <a:endParaRPr lang="en-US" b="1" dirty="0"/>
          </a:p>
        </p:txBody>
      </p:sp>
      <p:sp>
        <p:nvSpPr>
          <p:cNvPr id="4" name="Rectangle 1"/>
          <p:cNvSpPr>
            <a:spLocks noChangeArrowheads="1"/>
          </p:cNvSpPr>
          <p:nvPr/>
        </p:nvSpPr>
        <p:spPr bwMode="auto">
          <a:xfrm>
            <a:off x="457200" y="4566398"/>
            <a:ext cx="1161424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Find out which genres, actors, and directors are most popular</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Study how movie box office revenue changes over time</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Understand audience interest using movie ratings and votes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Analyze how movie runtime, ratings, and revenue are related</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Present clear insights using interactive visualizations</a:t>
            </a:r>
          </a:p>
        </p:txBody>
      </p:sp>
    </p:spTree>
    <p:extLst>
      <p:ext uri="{BB962C8B-B14F-4D97-AF65-F5344CB8AC3E}">
        <p14:creationId xmlns:p14="http://schemas.microsoft.com/office/powerpoint/2010/main" val="581133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182" y="1"/>
            <a:ext cx="10562230" cy="928048"/>
          </a:xfrm>
        </p:spPr>
        <p:txBody>
          <a:bodyPr>
            <a:normAutofit/>
          </a:bodyPr>
          <a:lstStyle/>
          <a:p>
            <a:r>
              <a:rPr lang="en-US" sz="3600" b="1" dirty="0">
                <a:solidFill>
                  <a:srgbClr val="FF0000"/>
                </a:solidFill>
              </a:rPr>
              <a:t>Data Preparation</a:t>
            </a:r>
            <a:endParaRPr lang="en-IN" sz="3600" b="1" dirty="0">
              <a:solidFill>
                <a:srgbClr val="FF0000"/>
              </a:solidFill>
            </a:endParaRPr>
          </a:p>
        </p:txBody>
      </p:sp>
      <p:sp>
        <p:nvSpPr>
          <p:cNvPr id="4" name="Rectangle 1"/>
          <p:cNvSpPr>
            <a:spLocks noGrp="1" noChangeArrowheads="1"/>
          </p:cNvSpPr>
          <p:nvPr>
            <p:ph type="body" idx="1"/>
          </p:nvPr>
        </p:nvSpPr>
        <p:spPr bwMode="auto">
          <a:xfrm>
            <a:off x="109182" y="983121"/>
            <a:ext cx="11068334"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algn="just" eaLnBrk="0" fontAlgn="base" hangingPunct="0">
              <a:lnSpc>
                <a:spcPct val="100000"/>
              </a:lnSpc>
              <a:spcBef>
                <a:spcPct val="0"/>
              </a:spcBef>
              <a:spcAft>
                <a:spcPct val="0"/>
              </a:spcAft>
              <a:buClrTx/>
              <a:buSzTx/>
              <a:buFont typeface="Wingdings" panose="05000000000000000000" pitchFamily="2" charset="2"/>
              <a:buChar char="q"/>
            </a:pPr>
            <a:r>
              <a:rPr lang="en-US" sz="2000" dirty="0">
                <a:solidFill>
                  <a:schemeClr val="bg1"/>
                </a:solidFill>
                <a:latin typeface="Calibri" panose="020F0502020204030204" pitchFamily="34" charset="0"/>
                <a:cs typeface="Calibri" panose="020F0502020204030204" pitchFamily="34" charset="0"/>
              </a:rPr>
              <a:t> We cleaned the dataset by removing duplicates, handling missing values, and correcting data types. </a:t>
            </a:r>
          </a:p>
          <a:p>
            <a:pPr marL="342900" algn="just" eaLnBrk="0" fontAlgn="base" hangingPunct="0">
              <a:lnSpc>
                <a:spcPct val="100000"/>
              </a:lnSpc>
              <a:spcBef>
                <a:spcPct val="0"/>
              </a:spcBef>
              <a:spcAft>
                <a:spcPct val="0"/>
              </a:spcAft>
              <a:buClrTx/>
              <a:buSzTx/>
              <a:buFont typeface="Wingdings" panose="05000000000000000000" pitchFamily="2" charset="2"/>
              <a:buChar char="q"/>
            </a:pPr>
            <a:endParaRPr lang="en-US" sz="2000" dirty="0">
              <a:solidFill>
                <a:schemeClr val="bg1"/>
              </a:solidFill>
              <a:latin typeface="Calibri" panose="020F0502020204030204" pitchFamily="34" charset="0"/>
              <a:cs typeface="Calibri" panose="020F0502020204030204" pitchFamily="34" charset="0"/>
            </a:endParaRPr>
          </a:p>
          <a:p>
            <a:pPr marL="342900" algn="just" eaLnBrk="0" fontAlgn="base" hangingPunct="0">
              <a:lnSpc>
                <a:spcPct val="100000"/>
              </a:lnSpc>
              <a:spcBef>
                <a:spcPct val="0"/>
              </a:spcBef>
              <a:spcAft>
                <a:spcPct val="0"/>
              </a:spcAft>
              <a:buClrTx/>
              <a:buSzTx/>
              <a:buFont typeface="Wingdings" panose="05000000000000000000" pitchFamily="2" charset="2"/>
              <a:buChar char="q"/>
            </a:pPr>
            <a:r>
              <a:rPr lang="en-US" sz="2000" dirty="0">
                <a:solidFill>
                  <a:schemeClr val="bg1"/>
                </a:solidFill>
                <a:latin typeface="Calibri" panose="020F0502020204030204" pitchFamily="34" charset="0"/>
                <a:cs typeface="Calibri" panose="020F0502020204030204" pitchFamily="34" charset="0"/>
              </a:rPr>
              <a:t> Multi-value columns like genres and actors were split into separate tables .</a:t>
            </a:r>
          </a:p>
          <a:p>
            <a:pPr marL="342900" algn="just" eaLnBrk="0" fontAlgn="base" hangingPunct="0">
              <a:lnSpc>
                <a:spcPct val="100000"/>
              </a:lnSpc>
              <a:spcBef>
                <a:spcPct val="0"/>
              </a:spcBef>
              <a:spcAft>
                <a:spcPct val="0"/>
              </a:spcAft>
              <a:buClrTx/>
              <a:buSzTx/>
              <a:buFont typeface="Wingdings" panose="05000000000000000000" pitchFamily="2" charset="2"/>
              <a:buChar char="q"/>
            </a:pPr>
            <a:endParaRPr lang="en-US" sz="2000" dirty="0">
              <a:solidFill>
                <a:schemeClr val="bg1"/>
              </a:solidFill>
              <a:latin typeface="Calibri" panose="020F0502020204030204" pitchFamily="34" charset="0"/>
              <a:cs typeface="Calibri" panose="020F0502020204030204" pitchFamily="34" charset="0"/>
            </a:endParaRPr>
          </a:p>
          <a:p>
            <a:pPr marL="342900" algn="just" eaLnBrk="0" fontAlgn="base" hangingPunct="0">
              <a:lnSpc>
                <a:spcPct val="100000"/>
              </a:lnSpc>
              <a:spcBef>
                <a:spcPct val="0"/>
              </a:spcBef>
              <a:spcAft>
                <a:spcPct val="0"/>
              </a:spcAft>
              <a:buClrTx/>
              <a:buSzTx/>
              <a:buFont typeface="Wingdings" panose="05000000000000000000" pitchFamily="2" charset="2"/>
              <a:buChar char="q"/>
            </a:pPr>
            <a:r>
              <a:rPr lang="en-US" altLang="en-US" sz="2000" dirty="0">
                <a:solidFill>
                  <a:schemeClr val="bg1"/>
                </a:solidFill>
                <a:latin typeface="Calibri" panose="020F0502020204030204" pitchFamily="34" charset="0"/>
                <a:cs typeface="Calibri" panose="020F0502020204030204" pitchFamily="34" charset="0"/>
              </a:rPr>
              <a:t> This is the dataset after removing null and duplicate values</a:t>
            </a:r>
          </a:p>
          <a:p>
            <a:pPr marL="0" indent="0" algn="just" eaLnBrk="0" fontAlgn="base" hangingPunct="0">
              <a:lnSpc>
                <a:spcPct val="100000"/>
              </a:lnSpc>
              <a:spcBef>
                <a:spcPct val="0"/>
              </a:spcBef>
              <a:spcAft>
                <a:spcPct val="0"/>
              </a:spcAft>
              <a:buClrTx/>
              <a:buSzTx/>
              <a:buFontTx/>
              <a:buChar char="•"/>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909" y="2946408"/>
            <a:ext cx="11027391" cy="3161740"/>
          </a:xfrm>
          <a:prstGeom prst="rect">
            <a:avLst/>
          </a:prstGeom>
        </p:spPr>
      </p:pic>
    </p:spTree>
    <p:extLst>
      <p:ext uri="{BB962C8B-B14F-4D97-AF65-F5344CB8AC3E}">
        <p14:creationId xmlns:p14="http://schemas.microsoft.com/office/powerpoint/2010/main" val="2418818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3" name="Rectangle 1"/>
          <p:cNvSpPr>
            <a:spLocks noGrp="1" noChangeArrowheads="1"/>
          </p:cNvSpPr>
          <p:nvPr>
            <p:ph type="title"/>
          </p:nvPr>
        </p:nvSpPr>
        <p:spPr bwMode="auto">
          <a:xfrm>
            <a:off x="810905" y="356302"/>
            <a:ext cx="965039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movies_main – contains movie-level details (title, year, runtime, revenue, rating, votes)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movies genre – maps each movie to its genres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movies actors – maps each movie to its actors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3130" y="1814214"/>
            <a:ext cx="10058400" cy="211516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3130" y="4158250"/>
            <a:ext cx="5077534" cy="1940001"/>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0914" y="4129670"/>
            <a:ext cx="4680616" cy="1968581"/>
          </a:xfrm>
          <a:prstGeom prst="rect">
            <a:avLst/>
          </a:prstGeom>
        </p:spPr>
      </p:pic>
    </p:spTree>
    <p:extLst>
      <p:ext uri="{BB962C8B-B14F-4D97-AF65-F5344CB8AC3E}">
        <p14:creationId xmlns:p14="http://schemas.microsoft.com/office/powerpoint/2010/main" val="2114203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781287"/>
          </a:xfrm>
        </p:spPr>
        <p:txBody>
          <a:bodyPr>
            <a:normAutofit/>
          </a:bodyPr>
          <a:lstStyle/>
          <a:p>
            <a:r>
              <a:rPr lang="en-IN" sz="3600" b="1" dirty="0">
                <a:solidFill>
                  <a:srgbClr val="FF0000"/>
                </a:solidFill>
              </a:rPr>
              <a:t>Data Model &amp; Relationships View</a:t>
            </a:r>
            <a:endParaRPr lang="en-IN" sz="3600" dirty="0">
              <a:solidFill>
                <a:srgbClr val="FF0000"/>
              </a:solidFill>
            </a:endParaRPr>
          </a:p>
        </p:txBody>
      </p:sp>
      <p:sp>
        <p:nvSpPr>
          <p:cNvPr id="3" name="Text Placeholder 2"/>
          <p:cNvSpPr>
            <a:spLocks noGrp="1"/>
          </p:cNvSpPr>
          <p:nvPr>
            <p:ph type="body" idx="1"/>
          </p:nvPr>
        </p:nvSpPr>
        <p:spPr>
          <a:xfrm>
            <a:off x="196756" y="890469"/>
            <a:ext cx="10515600" cy="4351338"/>
          </a:xfrm>
        </p:spPr>
        <p:txBody>
          <a:bodyPr>
            <a:normAutofit/>
          </a:bodyPr>
          <a:lstStyle/>
          <a:p>
            <a:pPr>
              <a:buClr>
                <a:schemeClr val="bg1"/>
              </a:buClr>
              <a:buFont typeface="Wingdings" panose="05000000000000000000" pitchFamily="2" charset="2"/>
              <a:buChar char="§"/>
            </a:pPr>
            <a:r>
              <a:rPr lang="en-US" sz="2400" dirty="0">
                <a:solidFill>
                  <a:schemeClr val="tx2"/>
                </a:solidFill>
              </a:rPr>
              <a:t>Created one-to-many relationships using MovieID</a:t>
            </a:r>
            <a:endParaRPr lang="en-IN" sz="2400" dirty="0">
              <a:solidFill>
                <a:schemeClr val="tx2"/>
              </a:solidFill>
            </a:endParaRPr>
          </a:p>
          <a:p>
            <a:pPr>
              <a:buClr>
                <a:schemeClr val="bg1"/>
              </a:buClr>
              <a:buFont typeface="Wingdings" panose="05000000000000000000" pitchFamily="2" charset="2"/>
              <a:buChar char="§"/>
            </a:pPr>
            <a:r>
              <a:rPr lang="en-US" sz="2400" dirty="0">
                <a:solidFill>
                  <a:schemeClr val="tx2"/>
                </a:solidFill>
              </a:rPr>
              <a:t>Followed a </a:t>
            </a:r>
            <a:r>
              <a:rPr lang="en-US" sz="2400" b="1" dirty="0">
                <a:solidFill>
                  <a:schemeClr val="tx2"/>
                </a:solidFill>
              </a:rPr>
              <a:t>star-schema-like structure</a:t>
            </a:r>
            <a:r>
              <a:rPr lang="en-US" sz="2400" dirty="0">
                <a:solidFill>
                  <a:schemeClr val="tx2"/>
                </a:solidFill>
              </a:rPr>
              <a:t> for efficient analysis</a:t>
            </a:r>
            <a:endParaRPr lang="en-IN" sz="2400" dirty="0">
              <a:solidFill>
                <a:schemeClr val="tx2"/>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030" y="2060812"/>
            <a:ext cx="9751325" cy="416256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556765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522357"/>
            <a:ext cx="10515600" cy="1325563"/>
          </a:xfrm>
        </p:spPr>
        <p:txBody>
          <a:bodyPr>
            <a:normAutofit fontScale="90000"/>
          </a:bodyPr>
          <a:lstStyle/>
          <a:p>
            <a:r>
              <a:rPr lang="en-US" sz="4000" b="1" dirty="0">
                <a:solidFill>
                  <a:srgbClr val="FF0000"/>
                </a:solidFill>
              </a:rPr>
              <a:t>Key Visuals</a:t>
            </a:r>
            <a:br>
              <a:rPr lang="en-IN" sz="4000" b="1" dirty="0">
                <a:solidFill>
                  <a:srgbClr val="FF0000"/>
                </a:solidFill>
              </a:rPr>
            </a:br>
            <a:br>
              <a:rPr lang="en-IN" sz="4800" b="1" dirty="0">
                <a:solidFill>
                  <a:srgbClr val="FF0000"/>
                </a:solidFill>
              </a:rPr>
            </a:br>
            <a:r>
              <a:rPr lang="en-US" sz="3600" b="1" dirty="0">
                <a:solidFill>
                  <a:schemeClr val="tx2"/>
                </a:solidFill>
              </a:rPr>
              <a:t>What is the Trend in the Box Office Revenue Over the Years ?</a:t>
            </a:r>
            <a:br>
              <a:rPr lang="en-IN" sz="3600" b="1" dirty="0">
                <a:solidFill>
                  <a:schemeClr val="tx2"/>
                </a:solidFill>
              </a:rPr>
            </a:br>
            <a:endParaRPr lang="en-IN" sz="3600" b="1" dirty="0">
              <a:solidFill>
                <a:schemeClr val="tx2"/>
              </a:solidFill>
            </a:endParaRPr>
          </a:p>
        </p:txBody>
      </p:sp>
      <p:sp>
        <p:nvSpPr>
          <p:cNvPr id="3" name="Text Placeholder 2"/>
          <p:cNvSpPr>
            <a:spLocks noGrp="1"/>
          </p:cNvSpPr>
          <p:nvPr>
            <p:ph type="body" idx="1"/>
          </p:nvPr>
        </p:nvSpPr>
        <p:spPr>
          <a:xfrm>
            <a:off x="838200" y="2088107"/>
            <a:ext cx="10515600" cy="4088856"/>
          </a:xfrm>
        </p:spPr>
        <p:txBody>
          <a:bodyPr/>
          <a:lstStyle/>
          <a:p>
            <a:pPr>
              <a:buClr>
                <a:schemeClr val="bg1"/>
              </a:buClr>
              <a:buFont typeface="Wingdings" panose="05000000000000000000" pitchFamily="2" charset="2"/>
              <a:buChar char="q"/>
            </a:pPr>
            <a:r>
              <a:rPr lang="en-US" sz="2400" b="1" dirty="0">
                <a:solidFill>
                  <a:schemeClr val="tx2"/>
                </a:solidFill>
              </a:rPr>
              <a:t>Insights :</a:t>
            </a:r>
          </a:p>
          <a:p>
            <a:pPr marL="114300" indent="0">
              <a:buNone/>
            </a:pPr>
            <a:r>
              <a:rPr lang="en-US" sz="2000" dirty="0">
                <a:solidFill>
                  <a:schemeClr val="tx2"/>
                </a:solidFill>
              </a:rPr>
              <a:t>The movie industry has experienced steady growth over time, </a:t>
            </a:r>
          </a:p>
          <a:p>
            <a:pPr marL="114300" indent="0">
              <a:buNone/>
            </a:pPr>
            <a:r>
              <a:rPr lang="en-US" sz="2000" dirty="0">
                <a:solidFill>
                  <a:schemeClr val="tx2"/>
                </a:solidFill>
              </a:rPr>
              <a:t>with a significant revenue peak in recent years.</a:t>
            </a:r>
            <a:endParaRPr lang="en-IN" sz="2000" b="1" dirty="0">
              <a:solidFill>
                <a:schemeClr val="tx2"/>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2707" y="3281956"/>
            <a:ext cx="4559692" cy="2654820"/>
          </a:xfrm>
          <a:prstGeom prst="rect">
            <a:avLst/>
          </a:prstGeom>
        </p:spPr>
      </p:pic>
    </p:spTree>
    <p:extLst>
      <p:ext uri="{BB962C8B-B14F-4D97-AF65-F5344CB8AC3E}">
        <p14:creationId xmlns:p14="http://schemas.microsoft.com/office/powerpoint/2010/main" val="1693673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81930" y="328519"/>
            <a:ext cx="10515600" cy="1325563"/>
          </a:xfrm>
        </p:spPr>
        <p:txBody>
          <a:bodyPr>
            <a:normAutofit/>
          </a:bodyPr>
          <a:lstStyle/>
          <a:p>
            <a:r>
              <a:rPr lang="en-US" sz="3200" b="1" dirty="0">
                <a:solidFill>
                  <a:schemeClr val="tx2"/>
                </a:solidFill>
              </a:rPr>
              <a:t>What is the Average Metascore for each Genre ? </a:t>
            </a:r>
            <a:endParaRPr lang="en-IN" sz="3200" b="1" dirty="0">
              <a:solidFill>
                <a:schemeClr val="tx2"/>
              </a:solidFill>
            </a:endParaRPr>
          </a:p>
        </p:txBody>
      </p:sp>
      <p:sp>
        <p:nvSpPr>
          <p:cNvPr id="3" name="Text Placeholder 2"/>
          <p:cNvSpPr>
            <a:spLocks noGrp="1"/>
          </p:cNvSpPr>
          <p:nvPr>
            <p:ph type="body" idx="1"/>
          </p:nvPr>
        </p:nvSpPr>
        <p:spPr>
          <a:xfrm>
            <a:off x="436728" y="1825625"/>
            <a:ext cx="6564573" cy="4351338"/>
          </a:xfrm>
        </p:spPr>
        <p:txBody>
          <a:bodyPr>
            <a:normAutofit/>
          </a:bodyPr>
          <a:lstStyle/>
          <a:p>
            <a:pPr>
              <a:buClr>
                <a:schemeClr val="bg1"/>
              </a:buClr>
              <a:buFont typeface="Wingdings" panose="05000000000000000000" pitchFamily="2" charset="2"/>
              <a:buChar char="q"/>
            </a:pPr>
            <a:r>
              <a:rPr lang="en-US" b="1" dirty="0">
                <a:solidFill>
                  <a:schemeClr val="tx2"/>
                </a:solidFill>
              </a:rPr>
              <a:t>Insights :</a:t>
            </a:r>
            <a:r>
              <a:rPr lang="en-IN" sz="2400" b="1" dirty="0">
                <a:solidFill>
                  <a:schemeClr val="tx2"/>
                </a:solidFill>
              </a:rPr>
              <a:t>  </a:t>
            </a:r>
          </a:p>
          <a:p>
            <a:pPr marL="114300" indent="0">
              <a:buNone/>
            </a:pPr>
            <a:endParaRPr lang="en-US" sz="2400" dirty="0">
              <a:solidFill>
                <a:schemeClr val="tx2"/>
              </a:solidFill>
            </a:endParaRPr>
          </a:p>
          <a:p>
            <a:pPr marL="114300" indent="0" algn="just">
              <a:buNone/>
            </a:pPr>
            <a:r>
              <a:rPr lang="en-US" sz="2400" dirty="0">
                <a:solidFill>
                  <a:schemeClr val="tx2"/>
                </a:solidFill>
              </a:rPr>
              <a:t>Genres like History, Biography, and Drama are rated highly by critics, while fun and entertainment-focused genres such as Comedy and Crime usually get lower critic scores.</a:t>
            </a:r>
            <a:endParaRPr lang="en-US" sz="2400" b="1" dirty="0">
              <a:solidFill>
                <a:schemeClr val="tx2"/>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7953" y="2470247"/>
            <a:ext cx="4731659" cy="3193574"/>
          </a:xfrm>
          <a:prstGeom prst="rect">
            <a:avLst/>
          </a:prstGeom>
        </p:spPr>
      </p:pic>
    </p:spTree>
    <p:extLst>
      <p:ext uri="{BB962C8B-B14F-4D97-AF65-F5344CB8AC3E}">
        <p14:creationId xmlns:p14="http://schemas.microsoft.com/office/powerpoint/2010/main" val="191806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chemeClr val="tx2"/>
                </a:solidFill>
              </a:rPr>
              <a:t>How is Total Revenue Distributed Among Various Genres ?</a:t>
            </a:r>
            <a:endParaRPr lang="en-IN" sz="3200" b="1" dirty="0">
              <a:solidFill>
                <a:schemeClr val="tx2"/>
              </a:solidFill>
            </a:endParaRPr>
          </a:p>
        </p:txBody>
      </p:sp>
      <p:sp>
        <p:nvSpPr>
          <p:cNvPr id="3" name="Text Placeholder 2"/>
          <p:cNvSpPr>
            <a:spLocks noGrp="1"/>
          </p:cNvSpPr>
          <p:nvPr>
            <p:ph type="body" idx="1"/>
          </p:nvPr>
        </p:nvSpPr>
        <p:spPr>
          <a:xfrm>
            <a:off x="838200" y="1825625"/>
            <a:ext cx="5508009" cy="4351338"/>
          </a:xfrm>
        </p:spPr>
        <p:txBody>
          <a:bodyPr>
            <a:normAutofit/>
          </a:bodyPr>
          <a:lstStyle/>
          <a:p>
            <a:pPr>
              <a:buClr>
                <a:schemeClr val="bg1"/>
              </a:buClr>
              <a:buFont typeface="Wingdings" panose="05000000000000000000" pitchFamily="2" charset="2"/>
              <a:buChar char="q"/>
            </a:pPr>
            <a:r>
              <a:rPr lang="en-US" b="1" dirty="0">
                <a:solidFill>
                  <a:schemeClr val="tx2"/>
                </a:solidFill>
              </a:rPr>
              <a:t>Insights :</a:t>
            </a:r>
          </a:p>
          <a:p>
            <a:pPr marL="114300" indent="0" algn="just">
              <a:buNone/>
            </a:pPr>
            <a:endParaRPr lang="en-US" sz="2000" dirty="0">
              <a:solidFill>
                <a:schemeClr val="tx2"/>
              </a:solidFill>
            </a:endParaRPr>
          </a:p>
          <a:p>
            <a:pPr marL="114300" indent="0" algn="just">
              <a:buNone/>
            </a:pPr>
            <a:r>
              <a:rPr lang="en-US" sz="2000" dirty="0">
                <a:solidFill>
                  <a:schemeClr val="tx2"/>
                </a:solidFill>
              </a:rPr>
              <a:t>Action and Adventure genres generate the highest box office revenue where as</a:t>
            </a:r>
            <a:r>
              <a:rPr lang="en-IN" sz="2000" b="1" dirty="0">
                <a:solidFill>
                  <a:schemeClr val="tx2"/>
                </a:solidFill>
              </a:rPr>
              <a:t> </a:t>
            </a:r>
            <a:r>
              <a:rPr lang="fr-FR" sz="2000" dirty="0">
                <a:solidFill>
                  <a:schemeClr val="tx2"/>
                </a:solidFill>
              </a:rPr>
              <a:t>Drama remains a consistent revenue contributor and </a:t>
            </a:r>
            <a:r>
              <a:rPr lang="en-US" sz="2000" dirty="0">
                <a:solidFill>
                  <a:schemeClr val="tx2"/>
                </a:solidFill>
              </a:rPr>
              <a:t>Niche genres like Animation, Fantasy, and Crime contribute smaller shares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7528" y="2320121"/>
            <a:ext cx="4284260" cy="3425586"/>
          </a:xfrm>
          <a:prstGeom prst="rect">
            <a:avLst/>
          </a:prstGeom>
        </p:spPr>
      </p:pic>
    </p:spTree>
    <p:extLst>
      <p:ext uri="{BB962C8B-B14F-4D97-AF65-F5344CB8AC3E}">
        <p14:creationId xmlns:p14="http://schemas.microsoft.com/office/powerpoint/2010/main" val="2579938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1596" y="95534"/>
            <a:ext cx="10515600" cy="832513"/>
          </a:xfrm>
        </p:spPr>
        <p:txBody>
          <a:bodyPr>
            <a:normAutofit/>
          </a:bodyPr>
          <a:lstStyle/>
          <a:p>
            <a:r>
              <a:rPr lang="en-US" sz="2800" b="1" dirty="0">
                <a:solidFill>
                  <a:schemeClr val="tx2"/>
                </a:solidFill>
              </a:rPr>
              <a:t>What is the Average Rating Across Genres ?</a:t>
            </a:r>
            <a:endParaRPr lang="en-IN" sz="2800" b="1" dirty="0">
              <a:solidFill>
                <a:schemeClr val="tx2"/>
              </a:solidFill>
            </a:endParaRPr>
          </a:p>
        </p:txBody>
      </p:sp>
      <p:sp>
        <p:nvSpPr>
          <p:cNvPr id="3" name="Text Placeholder 2"/>
          <p:cNvSpPr>
            <a:spLocks noGrp="1"/>
          </p:cNvSpPr>
          <p:nvPr>
            <p:ph type="body" idx="1"/>
          </p:nvPr>
        </p:nvSpPr>
        <p:spPr>
          <a:xfrm>
            <a:off x="384979" y="832512"/>
            <a:ext cx="11094493" cy="5813947"/>
          </a:xfrm>
        </p:spPr>
        <p:txBody>
          <a:bodyPr>
            <a:normAutofit/>
          </a:bodyPr>
          <a:lstStyle/>
          <a:p>
            <a:pPr>
              <a:buClr>
                <a:schemeClr val="bg1"/>
              </a:buClr>
              <a:buFont typeface="Wingdings" panose="05000000000000000000" pitchFamily="2" charset="2"/>
              <a:buChar char="q"/>
            </a:pPr>
            <a:r>
              <a:rPr lang="en-US" sz="2400" b="1" dirty="0">
                <a:solidFill>
                  <a:schemeClr val="tx2"/>
                </a:solidFill>
              </a:rPr>
              <a:t>Insights :</a:t>
            </a:r>
          </a:p>
          <a:p>
            <a:pPr algn="just">
              <a:buClr>
                <a:schemeClr val="bg1"/>
              </a:buClr>
              <a:buFont typeface="Wingdings" panose="05000000000000000000" pitchFamily="2" charset="2"/>
              <a:buChar char="§"/>
            </a:pPr>
            <a:r>
              <a:rPr lang="en-US" sz="2000" dirty="0">
                <a:solidFill>
                  <a:schemeClr val="tx2"/>
                </a:solidFill>
              </a:rPr>
              <a:t>War, Animation, and Biography have the highest average ratings, indicating these genres are generally better received by audiences and critics </a:t>
            </a:r>
          </a:p>
          <a:p>
            <a:pPr algn="just">
              <a:buClr>
                <a:schemeClr val="bg1"/>
              </a:buClr>
              <a:buFont typeface="Wingdings" panose="05000000000000000000" pitchFamily="2" charset="2"/>
              <a:buChar char="§"/>
            </a:pPr>
            <a:r>
              <a:rPr lang="en-US" sz="2000" dirty="0">
                <a:solidFill>
                  <a:schemeClr val="tx2"/>
                </a:solidFill>
              </a:rPr>
              <a:t>Drama and Romance fall in the mid-rating range, showing consistent but moderate audience appreciation across years. </a:t>
            </a:r>
          </a:p>
          <a:p>
            <a:pPr algn="just">
              <a:buClr>
                <a:schemeClr val="bg1"/>
              </a:buClr>
              <a:buFont typeface="Wingdings" panose="05000000000000000000" pitchFamily="2" charset="2"/>
              <a:buChar char="§"/>
            </a:pPr>
            <a:r>
              <a:rPr lang="en-US" sz="2000" dirty="0">
                <a:solidFill>
                  <a:schemeClr val="tx2"/>
                </a:solidFill>
              </a:rPr>
              <a:t>Action, Thriller, and Fantasy show comparatively lower average ratings, suggesting that popularity does not always translate into higher audience satisfaction.</a:t>
            </a:r>
            <a:endParaRPr lang="en-IN" sz="2000" dirty="0">
              <a:solidFill>
                <a:schemeClr val="tx2"/>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2491" y="3541606"/>
            <a:ext cx="4435663" cy="2886478"/>
          </a:xfrm>
          <a:prstGeom prst="rect">
            <a:avLst/>
          </a:prstGeom>
        </p:spPr>
      </p:pic>
    </p:spTree>
    <p:extLst>
      <p:ext uri="{BB962C8B-B14F-4D97-AF65-F5344CB8AC3E}">
        <p14:creationId xmlns:p14="http://schemas.microsoft.com/office/powerpoint/2010/main" val="4065439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4993" y="0"/>
            <a:ext cx="10515600" cy="860800"/>
          </a:xfrm>
        </p:spPr>
        <p:txBody>
          <a:bodyPr>
            <a:normAutofit/>
          </a:bodyPr>
          <a:lstStyle/>
          <a:p>
            <a:r>
              <a:rPr lang="en-US" sz="3200" b="1" dirty="0">
                <a:solidFill>
                  <a:schemeClr val="tx2"/>
                </a:solidFill>
              </a:rPr>
              <a:t>How are Movies Distributed Across Different Genres ?</a:t>
            </a:r>
            <a:endParaRPr lang="en-IN" sz="3200" dirty="0">
              <a:solidFill>
                <a:schemeClr val="tx2"/>
              </a:solidFill>
            </a:endParaRPr>
          </a:p>
        </p:txBody>
      </p:sp>
      <p:sp>
        <p:nvSpPr>
          <p:cNvPr id="3" name="Text Placeholder 2"/>
          <p:cNvSpPr>
            <a:spLocks noGrp="1"/>
          </p:cNvSpPr>
          <p:nvPr>
            <p:ph type="body" idx="1"/>
          </p:nvPr>
        </p:nvSpPr>
        <p:spPr>
          <a:xfrm>
            <a:off x="118279" y="1294056"/>
            <a:ext cx="10515600" cy="4351338"/>
          </a:xfrm>
        </p:spPr>
        <p:txBody>
          <a:bodyPr/>
          <a:lstStyle/>
          <a:p>
            <a:pPr>
              <a:buClr>
                <a:schemeClr val="bg1"/>
              </a:buClr>
              <a:buFont typeface="Wingdings" panose="05000000000000000000" pitchFamily="2" charset="2"/>
              <a:buChar char="q"/>
            </a:pPr>
            <a:r>
              <a:rPr lang="en-US" b="1" dirty="0">
                <a:solidFill>
                  <a:schemeClr val="tx2"/>
                </a:solidFill>
              </a:rPr>
              <a:t>Insights : </a:t>
            </a:r>
          </a:p>
          <a:p>
            <a:endParaRPr lang="en-US" b="1" dirty="0"/>
          </a:p>
        </p:txBody>
      </p:sp>
      <p:sp>
        <p:nvSpPr>
          <p:cNvPr id="5" name="Rectangle 2"/>
          <p:cNvSpPr>
            <a:spLocks noChangeArrowheads="1"/>
          </p:cNvSpPr>
          <p:nvPr/>
        </p:nvSpPr>
        <p:spPr bwMode="auto">
          <a:xfrm>
            <a:off x="620429" y="2229074"/>
            <a:ext cx="650429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sng" strike="noStrike" cap="none" normalizeH="0" baseline="0" dirty="0">
                <a:ln>
                  <a:noFill/>
                </a:ln>
                <a:solidFill>
                  <a:schemeClr val="tx2"/>
                </a:solidFill>
                <a:effectLst/>
                <a:latin typeface="Calibri" panose="020F0502020204030204" pitchFamily="34" charset="0"/>
                <a:cs typeface="Calibri" panose="020F0502020204030204" pitchFamily="34" charset="0"/>
              </a:rPr>
              <a:t>Drama dominates movie production</a:t>
            </a: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 having the highest number of titles, showing it is the </a:t>
            </a:r>
            <a:r>
              <a:rPr kumimoji="0" lang="en-US" altLang="en-US" sz="2400" i="0" u="sng" strike="noStrike" cap="none" normalizeH="0" baseline="0" dirty="0">
                <a:ln>
                  <a:noFill/>
                </a:ln>
                <a:solidFill>
                  <a:schemeClr val="tx2"/>
                </a:solidFill>
                <a:effectLst/>
                <a:latin typeface="Calibri" panose="020F0502020204030204" pitchFamily="34" charset="0"/>
                <a:cs typeface="Calibri" panose="020F0502020204030204" pitchFamily="34" charset="0"/>
              </a:rPr>
              <a:t>most frequentl</a:t>
            </a:r>
            <a:r>
              <a:rPr lang="en-US" altLang="en-US" sz="2400" u="sng" dirty="0">
                <a:solidFill>
                  <a:schemeClr val="tx2"/>
                </a:solidFill>
                <a:latin typeface="Calibri" panose="020F0502020204030204" pitchFamily="34" charset="0"/>
                <a:cs typeface="Calibri" panose="020F0502020204030204" pitchFamily="34" charset="0"/>
              </a:rPr>
              <a:t>y </a:t>
            </a:r>
            <a:r>
              <a:rPr kumimoji="0" lang="en-US" altLang="en-US" sz="2400" i="0" u="sng" strike="noStrike" cap="none" normalizeH="0" baseline="0" dirty="0">
                <a:ln>
                  <a:noFill/>
                </a:ln>
                <a:solidFill>
                  <a:schemeClr val="tx2"/>
                </a:solidFill>
                <a:effectLst/>
                <a:latin typeface="Calibri" panose="020F0502020204030204" pitchFamily="34" charset="0"/>
                <a:cs typeface="Calibri" panose="020F0502020204030204" pitchFamily="34" charset="0"/>
              </a:rPr>
              <a:t>produced genre</a:t>
            </a: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sng" strike="noStrike" cap="none" normalizeH="0" baseline="0" dirty="0">
                <a:ln>
                  <a:noFill/>
                </a:ln>
                <a:solidFill>
                  <a:schemeClr val="tx2"/>
                </a:solidFill>
                <a:effectLst/>
                <a:latin typeface="Calibri" panose="020F0502020204030204" pitchFamily="34" charset="0"/>
                <a:cs typeface="Calibri" panose="020F0502020204030204" pitchFamily="34" charset="0"/>
              </a:rPr>
              <a:t>Comedy and Action also have high movie counts</a:t>
            </a: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 indicating strong industry focus on entertainment-driven content.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sng" strike="noStrike" cap="none" normalizeH="0" baseline="0" dirty="0">
                <a:ln>
                  <a:noFill/>
                </a:ln>
                <a:solidFill>
                  <a:schemeClr val="tx2"/>
                </a:solidFill>
                <a:effectLst/>
                <a:latin typeface="Calibri" panose="020F0502020204030204" pitchFamily="34" charset="0"/>
                <a:cs typeface="Calibri" panose="020F0502020204030204" pitchFamily="34" charset="0"/>
              </a:rPr>
              <a:t>Niche genres like History, Sport, and Animation have very few releases</a:t>
            </a:r>
            <a:r>
              <a:rPr kumimoji="0" lang="en-US" altLang="en-US" sz="2400" i="0" u="none" strike="noStrike" cap="none" normalizeH="0" baseline="0" dirty="0">
                <a:ln>
                  <a:noFill/>
                </a:ln>
                <a:solidFill>
                  <a:schemeClr val="tx2"/>
                </a:solidFill>
                <a:effectLst/>
                <a:latin typeface="Calibri" panose="020F0502020204030204" pitchFamily="34" charset="0"/>
                <a:cs typeface="Calibri" panose="020F0502020204030204" pitchFamily="34" charset="0"/>
              </a:rPr>
              <a:t>, suggesting limited production or specialized audience demand.</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6873" y="1179478"/>
            <a:ext cx="3816360" cy="4784594"/>
          </a:xfrm>
          <a:prstGeom prst="rect">
            <a:avLst/>
          </a:prstGeom>
        </p:spPr>
      </p:pic>
    </p:spTree>
    <p:extLst>
      <p:ext uri="{BB962C8B-B14F-4D97-AF65-F5344CB8AC3E}">
        <p14:creationId xmlns:p14="http://schemas.microsoft.com/office/powerpoint/2010/main" val="3523570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41" y="419715"/>
            <a:ext cx="10515600" cy="1313550"/>
          </a:xfrm>
        </p:spPr>
        <p:txBody>
          <a:bodyPr>
            <a:normAutofit/>
          </a:bodyPr>
          <a:lstStyle/>
          <a:p>
            <a:r>
              <a:rPr lang="en-US" sz="2800" b="1" dirty="0">
                <a:solidFill>
                  <a:schemeClr val="tx2"/>
                </a:solidFill>
              </a:rPr>
              <a:t>How Does Revenue Progress from all Movies to the Top 10 Highest-Grossing ones ?</a:t>
            </a:r>
            <a:endParaRPr lang="en-IN" sz="2800" b="1" dirty="0">
              <a:solidFill>
                <a:schemeClr val="tx2"/>
              </a:solidFill>
            </a:endParaRPr>
          </a:p>
        </p:txBody>
      </p:sp>
      <p:sp>
        <p:nvSpPr>
          <p:cNvPr id="3" name="Text Placeholder 2"/>
          <p:cNvSpPr>
            <a:spLocks noGrp="1"/>
          </p:cNvSpPr>
          <p:nvPr>
            <p:ph type="body" idx="1"/>
          </p:nvPr>
        </p:nvSpPr>
        <p:spPr>
          <a:xfrm>
            <a:off x="537948" y="2031453"/>
            <a:ext cx="5835555" cy="3618720"/>
          </a:xfrm>
        </p:spPr>
        <p:txBody>
          <a:bodyPr>
            <a:normAutofit fontScale="92500"/>
          </a:bodyPr>
          <a:lstStyle/>
          <a:p>
            <a:pPr>
              <a:buClr>
                <a:schemeClr val="bg1"/>
              </a:buClr>
              <a:buFont typeface="Wingdings" panose="05000000000000000000" pitchFamily="2" charset="2"/>
              <a:buChar char="q"/>
            </a:pPr>
            <a:r>
              <a:rPr lang="en-US" b="1" dirty="0">
                <a:solidFill>
                  <a:schemeClr val="tx2"/>
                </a:solidFill>
              </a:rPr>
              <a:t>Insights :</a:t>
            </a:r>
          </a:p>
          <a:p>
            <a:pPr>
              <a:buClr>
                <a:schemeClr val="bg1"/>
              </a:buClr>
              <a:buFont typeface="Wingdings" panose="05000000000000000000" pitchFamily="2" charset="2"/>
              <a:buChar char="q"/>
            </a:pPr>
            <a:endParaRPr lang="en-US" b="1" dirty="0">
              <a:solidFill>
                <a:schemeClr val="tx2"/>
              </a:solidFill>
            </a:endParaRPr>
          </a:p>
          <a:p>
            <a:pPr>
              <a:buClr>
                <a:schemeClr val="bg1"/>
              </a:buClr>
              <a:buFont typeface="Wingdings" panose="05000000000000000000" pitchFamily="2" charset="2"/>
              <a:buChar char="§"/>
            </a:pPr>
            <a:r>
              <a:rPr lang="en-US" sz="2600" dirty="0">
                <a:solidFill>
                  <a:schemeClr val="tx2"/>
                </a:solidFill>
              </a:rPr>
              <a:t>Box office revenue is highly concentrated in a few blockbuster movies </a:t>
            </a:r>
          </a:p>
          <a:p>
            <a:pPr algn="just">
              <a:buClr>
                <a:schemeClr val="bg1"/>
              </a:buClr>
              <a:buFont typeface="Wingdings" panose="05000000000000000000" pitchFamily="2" charset="2"/>
              <a:buChar char="§"/>
            </a:pPr>
            <a:r>
              <a:rPr lang="en-US" sz="2600" u="sng" dirty="0">
                <a:solidFill>
                  <a:schemeClr val="tx2"/>
                </a:solidFill>
              </a:rPr>
              <a:t>Franchise films dominate the top earners</a:t>
            </a:r>
          </a:p>
          <a:p>
            <a:pPr algn="just">
              <a:buClr>
                <a:schemeClr val="bg1"/>
              </a:buClr>
              <a:buFont typeface="Wingdings" panose="05000000000000000000" pitchFamily="2" charset="2"/>
              <a:buChar char="§"/>
            </a:pPr>
            <a:r>
              <a:rPr lang="en-US" sz="2600" dirty="0">
                <a:solidFill>
                  <a:schemeClr val="tx2"/>
                </a:solidFill>
              </a:rPr>
              <a:t>Top 10 movies together contribute a large amount of overall revenue.</a:t>
            </a:r>
            <a:endParaRPr lang="en-IN" sz="2600" dirty="0">
              <a:solidFill>
                <a:schemeClr val="tx2"/>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8723" y="2127467"/>
            <a:ext cx="4179525" cy="3426691"/>
          </a:xfrm>
          <a:prstGeom prst="rect">
            <a:avLst/>
          </a:prstGeom>
        </p:spPr>
      </p:pic>
    </p:spTree>
    <p:extLst>
      <p:ext uri="{BB962C8B-B14F-4D97-AF65-F5344CB8AC3E}">
        <p14:creationId xmlns:p14="http://schemas.microsoft.com/office/powerpoint/2010/main" val="3468844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2164" y="0"/>
            <a:ext cx="10515600" cy="794933"/>
          </a:xfrm>
        </p:spPr>
        <p:txBody>
          <a:bodyPr>
            <a:normAutofit/>
          </a:bodyPr>
          <a:lstStyle/>
          <a:p>
            <a:r>
              <a:rPr lang="en-US" sz="3200" b="1" dirty="0">
                <a:solidFill>
                  <a:srgbClr val="9966FF"/>
                </a:solidFill>
                <a:latin typeface="Bookman Old Style" panose="02050604050505020204" pitchFamily="18" charset="0"/>
              </a:rPr>
              <a:t>Final Dashboard</a:t>
            </a:r>
            <a:endParaRPr lang="en-IN" sz="3200" b="1" dirty="0">
              <a:solidFill>
                <a:srgbClr val="9966FF"/>
              </a:solidFill>
              <a:latin typeface="Bookman Old Style" panose="020506040505050202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698" y="685813"/>
            <a:ext cx="11789926" cy="6172187"/>
          </a:xfrm>
          <a:prstGeom prst="rect">
            <a:avLst/>
          </a:prstGeom>
        </p:spPr>
      </p:pic>
    </p:spTree>
    <p:extLst>
      <p:ext uri="{BB962C8B-B14F-4D97-AF65-F5344CB8AC3E}">
        <p14:creationId xmlns:p14="http://schemas.microsoft.com/office/powerpoint/2010/main" val="2350694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85753"/>
          </a:xfrm>
        </p:spPr>
        <p:txBody>
          <a:bodyPr>
            <a:normAutofit/>
          </a:bodyPr>
          <a:lstStyle/>
          <a:p>
            <a:r>
              <a:rPr lang="en-US" sz="3600" b="1" dirty="0">
                <a:solidFill>
                  <a:srgbClr val="FF0000"/>
                </a:solidFill>
              </a:rPr>
              <a:t>Business Insights</a:t>
            </a:r>
            <a:endParaRPr lang="en-IN" sz="3600" b="1" dirty="0">
              <a:solidFill>
                <a:srgbClr val="FF0000"/>
              </a:solidFill>
            </a:endParaRPr>
          </a:p>
        </p:txBody>
      </p:sp>
      <p:sp>
        <p:nvSpPr>
          <p:cNvPr id="3" name="Text Placeholder 2"/>
          <p:cNvSpPr>
            <a:spLocks noGrp="1"/>
          </p:cNvSpPr>
          <p:nvPr>
            <p:ph type="body" idx="1"/>
          </p:nvPr>
        </p:nvSpPr>
        <p:spPr>
          <a:xfrm>
            <a:off x="114868" y="685752"/>
            <a:ext cx="11867866" cy="5510331"/>
          </a:xfrm>
        </p:spPr>
        <p:txBody>
          <a:bodyPr>
            <a:normAutofit/>
          </a:bodyPr>
          <a:lstStyle/>
          <a:p>
            <a:pPr>
              <a:buClr>
                <a:schemeClr val="bg1"/>
              </a:buClr>
              <a:buFont typeface="Wingdings" panose="05000000000000000000" pitchFamily="2" charset="2"/>
              <a:buChar char="q"/>
            </a:pPr>
            <a:r>
              <a:rPr lang="en-US" sz="2600" dirty="0">
                <a:solidFill>
                  <a:schemeClr val="tx2"/>
                </a:solidFill>
              </a:rPr>
              <a:t>Box office revenue shows a </a:t>
            </a:r>
            <a:r>
              <a:rPr lang="en-US" sz="2600" b="1" u="sng" dirty="0">
                <a:solidFill>
                  <a:schemeClr val="tx2"/>
                </a:solidFill>
              </a:rPr>
              <a:t>consistent upward trend </a:t>
            </a:r>
            <a:r>
              <a:rPr lang="en-US" sz="2600" dirty="0">
                <a:solidFill>
                  <a:schemeClr val="tx2"/>
                </a:solidFill>
              </a:rPr>
              <a:t>over the years.</a:t>
            </a:r>
          </a:p>
          <a:p>
            <a:pPr>
              <a:buClr>
                <a:schemeClr val="bg1"/>
              </a:buClr>
              <a:buFont typeface="Wingdings" panose="05000000000000000000" pitchFamily="2" charset="2"/>
              <a:buChar char="q"/>
            </a:pPr>
            <a:r>
              <a:rPr lang="en-US" sz="2600" b="1" u="sng" dirty="0">
                <a:solidFill>
                  <a:schemeClr val="tx2"/>
                </a:solidFill>
              </a:rPr>
              <a:t>Top blockbuster movies contribute a major share</a:t>
            </a:r>
            <a:r>
              <a:rPr lang="en-US" sz="2600" b="1" dirty="0">
                <a:solidFill>
                  <a:schemeClr val="tx2"/>
                </a:solidFill>
              </a:rPr>
              <a:t> </a:t>
            </a:r>
            <a:r>
              <a:rPr lang="en-US" sz="2600" dirty="0">
                <a:solidFill>
                  <a:schemeClr val="tx2"/>
                </a:solidFill>
              </a:rPr>
              <a:t>of total revenue.</a:t>
            </a:r>
          </a:p>
          <a:p>
            <a:pPr>
              <a:buClr>
                <a:schemeClr val="bg1"/>
              </a:buClr>
              <a:buFont typeface="Wingdings" panose="05000000000000000000" pitchFamily="2" charset="2"/>
              <a:buChar char="q"/>
            </a:pPr>
            <a:r>
              <a:rPr lang="en-US" sz="2600" b="1" u="sng" dirty="0">
                <a:solidFill>
                  <a:schemeClr val="tx2"/>
                </a:solidFill>
              </a:rPr>
              <a:t>Action, Adventure, and Drama </a:t>
            </a:r>
            <a:r>
              <a:rPr lang="en-US" sz="2600" dirty="0">
                <a:solidFill>
                  <a:schemeClr val="tx2"/>
                </a:solidFill>
              </a:rPr>
              <a:t>are the most profitable genres.</a:t>
            </a:r>
          </a:p>
          <a:p>
            <a:pPr>
              <a:buClr>
                <a:schemeClr val="bg1"/>
              </a:buClr>
              <a:buFont typeface="Wingdings" panose="05000000000000000000" pitchFamily="2" charset="2"/>
              <a:buChar char="q"/>
            </a:pPr>
            <a:r>
              <a:rPr lang="en-US" sz="2600" b="1" u="sng" dirty="0">
                <a:solidFill>
                  <a:schemeClr val="tx2"/>
                </a:solidFill>
              </a:rPr>
              <a:t>History and Biography </a:t>
            </a:r>
            <a:r>
              <a:rPr lang="en-US" sz="2600" dirty="0">
                <a:solidFill>
                  <a:schemeClr val="tx2"/>
                </a:solidFill>
              </a:rPr>
              <a:t>films receive higher ratings but lower revenue.</a:t>
            </a:r>
          </a:p>
          <a:p>
            <a:pPr>
              <a:buClr>
                <a:schemeClr val="bg1"/>
              </a:buClr>
              <a:buFont typeface="Wingdings" panose="05000000000000000000" pitchFamily="2" charset="2"/>
              <a:buChar char="q"/>
            </a:pPr>
            <a:r>
              <a:rPr lang="en-US" sz="2600" b="1" u="sng" dirty="0">
                <a:solidFill>
                  <a:schemeClr val="tx2"/>
                </a:solidFill>
              </a:rPr>
              <a:t>Comedy and Crime </a:t>
            </a:r>
            <a:r>
              <a:rPr lang="en-US" sz="2600" dirty="0">
                <a:solidFill>
                  <a:schemeClr val="tx2"/>
                </a:solidFill>
              </a:rPr>
              <a:t>have high movie counts but lower average returns.</a:t>
            </a:r>
          </a:p>
          <a:p>
            <a:pPr>
              <a:buClr>
                <a:schemeClr val="bg1"/>
              </a:buClr>
              <a:buFont typeface="Wingdings" panose="05000000000000000000" pitchFamily="2" charset="2"/>
              <a:buChar char="q"/>
            </a:pPr>
            <a:r>
              <a:rPr lang="en-US" sz="2600" b="1" u="sng" dirty="0">
                <a:solidFill>
                  <a:schemeClr val="tx2"/>
                </a:solidFill>
              </a:rPr>
              <a:t>Higher audience votes usually lead to higher revenue</a:t>
            </a:r>
            <a:r>
              <a:rPr lang="en-US" sz="2600" u="sng" dirty="0">
                <a:solidFill>
                  <a:schemeClr val="tx2"/>
                </a:solidFill>
              </a:rPr>
              <a:t>.</a:t>
            </a:r>
          </a:p>
          <a:p>
            <a:pPr>
              <a:buClr>
                <a:schemeClr val="bg1"/>
              </a:buClr>
              <a:buFont typeface="Wingdings" panose="05000000000000000000" pitchFamily="2" charset="2"/>
              <a:buChar char="q"/>
            </a:pPr>
            <a:r>
              <a:rPr lang="en-US" sz="2600" dirty="0">
                <a:solidFill>
                  <a:schemeClr val="tx2"/>
                </a:solidFill>
              </a:rPr>
              <a:t>Movies with </a:t>
            </a:r>
            <a:r>
              <a:rPr lang="en-US" sz="2600" b="1" u="sng" dirty="0">
                <a:solidFill>
                  <a:schemeClr val="tx2"/>
                </a:solidFill>
              </a:rPr>
              <a:t>average runtimes perform better </a:t>
            </a:r>
            <a:r>
              <a:rPr lang="en-US" sz="2600" dirty="0">
                <a:solidFill>
                  <a:schemeClr val="tx2"/>
                </a:solidFill>
              </a:rPr>
              <a:t>commercially.</a:t>
            </a:r>
          </a:p>
          <a:p>
            <a:pPr>
              <a:buClr>
                <a:schemeClr val="bg1"/>
              </a:buClr>
              <a:buFont typeface="Wingdings" panose="05000000000000000000" pitchFamily="2" charset="2"/>
              <a:buChar char="q"/>
            </a:pPr>
            <a:r>
              <a:rPr lang="en-US" sz="2600" b="1" u="sng" dirty="0">
                <a:solidFill>
                  <a:schemeClr val="tx2"/>
                </a:solidFill>
              </a:rPr>
              <a:t>Franchises and sequels outperform standalone movies</a:t>
            </a:r>
            <a:r>
              <a:rPr lang="en-US" sz="2600" u="sng" dirty="0">
                <a:solidFill>
                  <a:schemeClr val="tx2"/>
                </a:solidFill>
              </a:rPr>
              <a:t>.</a:t>
            </a:r>
          </a:p>
          <a:p>
            <a:pPr>
              <a:buClr>
                <a:schemeClr val="bg1"/>
              </a:buClr>
              <a:buFont typeface="Wingdings" panose="05000000000000000000" pitchFamily="2" charset="2"/>
              <a:buChar char="q"/>
            </a:pPr>
            <a:r>
              <a:rPr lang="en-US" sz="2600" b="1" u="sng" dirty="0">
                <a:solidFill>
                  <a:schemeClr val="tx2"/>
                </a:solidFill>
              </a:rPr>
              <a:t>Star directors and actors strongly influence box office success.</a:t>
            </a:r>
          </a:p>
          <a:p>
            <a:pPr>
              <a:buClr>
                <a:schemeClr val="bg1"/>
              </a:buClr>
              <a:buFont typeface="Wingdings" panose="05000000000000000000" pitchFamily="2" charset="2"/>
              <a:buChar char="q"/>
            </a:pPr>
            <a:r>
              <a:rPr lang="en-US" sz="2600" dirty="0">
                <a:solidFill>
                  <a:schemeClr val="tx2"/>
                </a:solidFill>
              </a:rPr>
              <a:t>Combining </a:t>
            </a:r>
            <a:r>
              <a:rPr lang="en-US" sz="2600" b="1" u="sng" dirty="0">
                <a:solidFill>
                  <a:schemeClr val="tx2"/>
                </a:solidFill>
              </a:rPr>
              <a:t>quality storytelling with mass appeal </a:t>
            </a:r>
            <a:r>
              <a:rPr lang="en-US" sz="2600" dirty="0">
                <a:solidFill>
                  <a:schemeClr val="tx2"/>
                </a:solidFill>
              </a:rPr>
              <a:t>drives maximum profit.</a:t>
            </a:r>
          </a:p>
        </p:txBody>
      </p:sp>
    </p:spTree>
    <p:extLst>
      <p:ext uri="{BB962C8B-B14F-4D97-AF65-F5344CB8AC3E}">
        <p14:creationId xmlns:p14="http://schemas.microsoft.com/office/powerpoint/2010/main" val="3674347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1471" y="105818"/>
            <a:ext cx="10515600" cy="672105"/>
          </a:xfrm>
        </p:spPr>
        <p:txBody>
          <a:bodyPr>
            <a:normAutofit/>
          </a:bodyPr>
          <a:lstStyle/>
          <a:p>
            <a:r>
              <a:rPr lang="en-US" sz="3600" b="1" dirty="0">
                <a:solidFill>
                  <a:srgbClr val="FF0000"/>
                </a:solidFill>
              </a:rPr>
              <a:t>Conclusion :</a:t>
            </a:r>
            <a:endParaRPr lang="en-IN" sz="3600" b="1" dirty="0">
              <a:solidFill>
                <a:srgbClr val="FF0000"/>
              </a:solidFill>
            </a:endParaRPr>
          </a:p>
        </p:txBody>
      </p:sp>
      <p:sp>
        <p:nvSpPr>
          <p:cNvPr id="3" name="Text Placeholder 2"/>
          <p:cNvSpPr>
            <a:spLocks noGrp="1"/>
          </p:cNvSpPr>
          <p:nvPr>
            <p:ph type="body" idx="1"/>
          </p:nvPr>
        </p:nvSpPr>
        <p:spPr>
          <a:xfrm>
            <a:off x="756314" y="1078174"/>
            <a:ext cx="10515600" cy="4572000"/>
          </a:xfrm>
        </p:spPr>
        <p:txBody>
          <a:bodyPr/>
          <a:lstStyle/>
          <a:p>
            <a:pPr algn="just">
              <a:buClr>
                <a:schemeClr val="bg1"/>
              </a:buClr>
              <a:buFont typeface="Wingdings" panose="05000000000000000000" pitchFamily="2" charset="2"/>
              <a:buChar char="q"/>
            </a:pPr>
            <a:r>
              <a:rPr lang="en-US" dirty="0">
                <a:solidFill>
                  <a:schemeClr val="tx2"/>
                </a:solidFill>
              </a:rPr>
              <a:t>This project highlights how movie success is influenced by a combination of box office performance, genre popularity, audience ratings, and key contributors like actors and directors.</a:t>
            </a:r>
          </a:p>
          <a:p>
            <a:pPr algn="just">
              <a:buClr>
                <a:schemeClr val="bg1"/>
              </a:buClr>
              <a:buFont typeface="Wingdings" panose="05000000000000000000" pitchFamily="2" charset="2"/>
              <a:buChar char="q"/>
            </a:pPr>
            <a:endParaRPr lang="en-US" dirty="0">
              <a:solidFill>
                <a:schemeClr val="tx2"/>
              </a:solidFill>
            </a:endParaRPr>
          </a:p>
          <a:p>
            <a:pPr algn="just">
              <a:buClr>
                <a:schemeClr val="bg1"/>
              </a:buClr>
              <a:buFont typeface="Wingdings" panose="05000000000000000000" pitchFamily="2" charset="2"/>
              <a:buChar char="q"/>
            </a:pPr>
            <a:r>
              <a:rPr lang="en-US" dirty="0">
                <a:solidFill>
                  <a:schemeClr val="tx2"/>
                </a:solidFill>
              </a:rPr>
              <a:t>The analysis shows that while blockbuster genres generate higher revenue, critically acclaimed genres achieve better ratings.</a:t>
            </a:r>
          </a:p>
          <a:p>
            <a:pPr marL="114300" indent="0" algn="just">
              <a:buClr>
                <a:schemeClr val="bg1"/>
              </a:buClr>
              <a:buNone/>
            </a:pPr>
            <a:endParaRPr lang="en-US" dirty="0">
              <a:solidFill>
                <a:schemeClr val="tx2"/>
              </a:solidFill>
            </a:endParaRPr>
          </a:p>
          <a:p>
            <a:pPr algn="just">
              <a:buClr>
                <a:schemeClr val="bg1"/>
              </a:buClr>
              <a:buFont typeface="Wingdings" panose="05000000000000000000" pitchFamily="2" charset="2"/>
              <a:buChar char="q"/>
            </a:pPr>
            <a:r>
              <a:rPr lang="en-US" dirty="0">
                <a:solidFill>
                  <a:schemeClr val="tx2"/>
                </a:solidFill>
              </a:rPr>
              <a:t>Overall, the insights from this dashboard help identify profitable trends, audience preferences, and strategic opportunities for future movie production and investment decisions.</a:t>
            </a:r>
            <a:endParaRPr lang="en-IN" dirty="0">
              <a:solidFill>
                <a:schemeClr val="tx2"/>
              </a:solidFill>
            </a:endParaRPr>
          </a:p>
        </p:txBody>
      </p:sp>
    </p:spTree>
    <p:extLst>
      <p:ext uri="{BB962C8B-B14F-4D97-AF65-F5344CB8AC3E}">
        <p14:creationId xmlns:p14="http://schemas.microsoft.com/office/powerpoint/2010/main" val="1329560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7000" r="-27000"/>
          </a:stretch>
        </a:blipFill>
        <a:effectLst/>
      </p:bgPr>
    </p:bg>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4">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FF0000"/>
                </a:solidFill>
                <a:latin typeface="Libre Baskerville"/>
                <a:ea typeface="Libre Baskerville"/>
                <a:cs typeface="Libre Baskerville"/>
                <a:sym typeface="Libre Baskerville"/>
              </a:rPr>
              <a:t>THANK YOU</a:t>
            </a:r>
            <a:endParaRPr sz="1800" b="0" i="0" u="none" strike="noStrike" cap="none" dirty="0">
              <a:solidFill>
                <a:srgbClr val="FF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1213</TotalTime>
  <Words>864</Words>
  <Application>Microsoft Office PowerPoint</Application>
  <PresentationFormat>Widescreen</PresentationFormat>
  <Paragraphs>98</Paragraphs>
  <Slides>17</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Bookman Old Style</vt:lpstr>
      <vt:lpstr>Wingdings</vt:lpstr>
      <vt:lpstr>Lato Black</vt:lpstr>
      <vt:lpstr>Libre Baskerville</vt:lpstr>
      <vt:lpstr>Office Theme</vt:lpstr>
      <vt:lpstr>PowerPoint Presentation</vt:lpstr>
      <vt:lpstr>PowerPoint Presentation</vt:lpstr>
      <vt:lpstr>Agenda</vt:lpstr>
      <vt:lpstr>Project Overview</vt:lpstr>
      <vt:lpstr>Data Preparation</vt:lpstr>
      <vt:lpstr>movies_main – contains movie-level details (title, year, runtime, revenue, rating, votes) movies genre – maps each movie to its genres movies actors – maps each movie to its actors</vt:lpstr>
      <vt:lpstr>Data Model &amp; Relationships View</vt:lpstr>
      <vt:lpstr>Key Visuals  What is the Trend in the Box Office Revenue Over the Years ? </vt:lpstr>
      <vt:lpstr>What is the Average Metascore for each Genre ? </vt:lpstr>
      <vt:lpstr>How is Total Revenue Distributed Among Various Genres ?</vt:lpstr>
      <vt:lpstr>What is the Average Rating Across Genres ?</vt:lpstr>
      <vt:lpstr>How are Movies Distributed Across Different Genres ?</vt:lpstr>
      <vt:lpstr>How Does Revenue Progress from all Movies to the Top 10 Highest-Grossing ones ?</vt:lpstr>
      <vt:lpstr>Final Dashboard</vt:lpstr>
      <vt:lpstr>Business Insights</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sonia yenpure</cp:lastModifiedBy>
  <cp:revision>41</cp:revision>
  <dcterms:created xsi:type="dcterms:W3CDTF">2021-02-16T05:19:01Z</dcterms:created>
  <dcterms:modified xsi:type="dcterms:W3CDTF">2026-03-31T17:38:05Z</dcterms:modified>
</cp:coreProperties>
</file>